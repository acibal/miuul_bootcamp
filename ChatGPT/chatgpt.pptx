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78" r:id="rId4"/>
    <p:sldId id="279" r:id="rId5"/>
    <p:sldId id="281" r:id="rId6"/>
    <p:sldId id="280" r:id="rId7"/>
    <p:sldId id="283" r:id="rId8"/>
    <p:sldId id="284" r:id="rId9"/>
    <p:sldId id="285" r:id="rId10"/>
    <p:sldId id="277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FFC7"/>
    <a:srgbClr val="03523C"/>
    <a:srgbClr val="BE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42"/>
    <p:restoredTop sz="95872"/>
  </p:normalViewPr>
  <p:slideViewPr>
    <p:cSldViewPr snapToGrid="0" snapToObjects="1">
      <p:cViewPr varScale="1">
        <p:scale>
          <a:sx n="60" d="100"/>
          <a:sy n="60" d="100"/>
        </p:scale>
        <p:origin x="69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çılış Ekranı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Title">
            <a:extLst>
              <a:ext uri="{FF2B5EF4-FFF2-40B4-BE49-F238E27FC236}">
                <a16:creationId xmlns:a16="http://schemas.microsoft.com/office/drawing/2014/main" id="{0623C506-61A1-A34E-B1DD-A0DD7D1418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lvl1pPr>
          </a:lstStyle>
          <a:p>
            <a:r>
              <a:rPr lang="tr-TR" dirty="0"/>
              <a:t>Eğitim/Bölüm/Ders Adı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60707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 Anlatım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hor and Date">
            <a:extLst>
              <a:ext uri="{FF2B5EF4-FFF2-40B4-BE49-F238E27FC236}">
                <a16:creationId xmlns:a16="http://schemas.microsoft.com/office/drawing/2014/main" id="{E5E2BDF8-0349-334B-BF6A-D7072B112F4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49411" y="167779"/>
            <a:ext cx="15709901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Dersin adını buraya yazın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40B19-566E-A743-BF82-7FDFA5614D83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E5980-45BA-614F-AC8B-C106D2EB33A8}"/>
              </a:ext>
            </a:extLst>
          </p:cNvPr>
          <p:cNvSpPr txBox="1"/>
          <p:nvPr userDrawn="1"/>
        </p:nvSpPr>
        <p:spPr>
          <a:xfrm>
            <a:off x="6160286" y="631141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EF5B0-9520-1A41-8DBD-9F983BCFBB0F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CF718-ACE3-2946-B725-C3C12C26870E}"/>
              </a:ext>
            </a:extLst>
          </p:cNvPr>
          <p:cNvSpPr txBox="1"/>
          <p:nvPr userDrawn="1"/>
        </p:nvSpPr>
        <p:spPr>
          <a:xfrm>
            <a:off x="23133892" y="279950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8CEC82-FA21-5D4B-8318-FE278F38F3F6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© Miuul, Inc. All Rights 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0CEEE-A67E-6A49-B778-7AAC10C70C22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3" name="Author and Date">
            <a:extLst>
              <a:ext uri="{FF2B5EF4-FFF2-40B4-BE49-F238E27FC236}">
                <a16:creationId xmlns:a16="http://schemas.microsoft.com/office/drawing/2014/main" id="{EE642577-6C65-AC44-8B45-E9CBE07C539A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tutuyoruz. 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593886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ygulama/Pro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BA3E2F-7310-664B-8F7C-BCAA61B43015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Uygulama: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29AF0C-F761-0D48-B6EA-493695665B9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43065F-7CF2-7246-8CC0-F1495A4666C3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1535-6CBA-3E42-8BE4-22718C21AF32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96031-03CB-FC42-8AC2-462CCE101649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© Miuul, Inc. All Rights Reserved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28544-B5DB-ED48-90E0-26946CC9B600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Author and Date">
            <a:extLst>
              <a:ext uri="{FF2B5EF4-FFF2-40B4-BE49-F238E27FC236}">
                <a16:creationId xmlns:a16="http://schemas.microsoft.com/office/drawing/2014/main" id="{715D275F-DFDA-D245-9BDB-996B1F6EC6BD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529146" y="167779"/>
            <a:ext cx="13742854" cy="1169999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 Medium" pitchFamily="2" charset="77"/>
              </a:defRPr>
            </a:lvl1pPr>
          </a:lstStyle>
          <a:p>
            <a:r>
              <a:rPr lang="tr-TR" dirty="0"/>
              <a:t>‘Projenin adını buraya yazın’</a:t>
            </a:r>
          </a:p>
        </p:txBody>
      </p:sp>
      <p:sp>
        <p:nvSpPr>
          <p:cNvPr id="10" name="Author and Date">
            <a:extLst>
              <a:ext uri="{FF2B5EF4-FFF2-40B4-BE49-F238E27FC236}">
                <a16:creationId xmlns:a16="http://schemas.microsoft.com/office/drawing/2014/main" id="{0F3C4248-EB51-CF40-BD7E-040A2460A589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049411" y="2393941"/>
            <a:ext cx="22229689" cy="10350448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l" defTabSz="825500">
              <a:lnSpc>
                <a:spcPct val="100000"/>
              </a:lnSpc>
              <a:spcBef>
                <a:spcPts val="0"/>
              </a:spcBef>
              <a:buSzTx/>
              <a:buNone/>
              <a:defRPr sz="3200" b="0" i="0">
                <a:latin typeface="Chromatica" pitchFamily="2" charset="77"/>
              </a:defRPr>
            </a:lvl1pPr>
          </a:lstStyle>
          <a:p>
            <a:r>
              <a:rPr lang="tr-TR" dirty="0"/>
              <a:t>Sayfa içine eklenecek yazıları ve görselleri bu çerçeve sınırları içerisinde tutuyoruz</a:t>
            </a:r>
          </a:p>
        </p:txBody>
      </p:sp>
    </p:spTree>
    <p:extLst>
      <p:ext uri="{BB962C8B-B14F-4D97-AF65-F5344CB8AC3E}">
        <p14:creationId xmlns:p14="http://schemas.microsoft.com/office/powerpoint/2010/main" val="302757029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Öze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31EE74-3E9F-4D4B-B3CB-FBB357DA2DF9}"/>
              </a:ext>
            </a:extLst>
          </p:cNvPr>
          <p:cNvSpPr/>
          <p:nvPr userDrawn="1"/>
        </p:nvSpPr>
        <p:spPr>
          <a:xfrm>
            <a:off x="1104899" y="2393941"/>
            <a:ext cx="10820397" cy="10350453"/>
          </a:xfrm>
          <a:prstGeom prst="rect">
            <a:avLst/>
          </a:prstGeom>
          <a:solidFill>
            <a:srgbClr val="03523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39120-26FA-9341-962C-7F435C73C35B}"/>
              </a:ext>
            </a:extLst>
          </p:cNvPr>
          <p:cNvSpPr txBox="1"/>
          <p:nvPr userDrawn="1"/>
        </p:nvSpPr>
        <p:spPr>
          <a:xfrm>
            <a:off x="1020437" y="445773"/>
            <a:ext cx="397092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Bölüm Özeti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C12F33-0B8E-BC43-B871-1EA5470A9927}"/>
              </a:ext>
            </a:extLst>
          </p:cNvPr>
          <p:cNvCxnSpPr>
            <a:cxnSpLocks/>
          </p:cNvCxnSpPr>
          <p:nvPr userDrawn="1"/>
        </p:nvCxnSpPr>
        <p:spPr>
          <a:xfrm>
            <a:off x="1104900" y="1481652"/>
            <a:ext cx="22174200" cy="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A109C9-B7D5-DB4E-850C-7A5E9DB5B35C}"/>
              </a:ext>
            </a:extLst>
          </p:cNvPr>
          <p:cNvSpPr txBox="1"/>
          <p:nvPr userDrawn="1"/>
        </p:nvSpPr>
        <p:spPr>
          <a:xfrm>
            <a:off x="22320369" y="231769"/>
            <a:ext cx="912109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1800" b="0" i="0" u="none" strike="noStrike" kern="100" cap="none" spc="11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MIUUL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A04EF-CF2A-4A4F-A9F2-EBBBD1E4DE2B}"/>
              </a:ext>
            </a:extLst>
          </p:cNvPr>
          <p:cNvSpPr txBox="1"/>
          <p:nvPr userDrawn="1"/>
        </p:nvSpPr>
        <p:spPr>
          <a:xfrm>
            <a:off x="23133892" y="275554"/>
            <a:ext cx="197170" cy="179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TR" sz="5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 Medium" pitchFamily="2" charset="77"/>
                <a:ea typeface="+mn-ea"/>
                <a:cs typeface="+mn-cs"/>
                <a:sym typeface="Helvetica Neue"/>
              </a:rPr>
              <a:t>TM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47171-6DE6-5548-A5D2-656F5E929FC1}"/>
              </a:ext>
            </a:extLst>
          </p:cNvPr>
          <p:cNvSpPr txBox="1"/>
          <p:nvPr userDrawn="1"/>
        </p:nvSpPr>
        <p:spPr>
          <a:xfrm>
            <a:off x="19365581" y="857221"/>
            <a:ext cx="39709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www.miuul.com</a:t>
            </a:r>
          </a:p>
          <a:p>
            <a: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TR" sz="13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Chromatica" pitchFamily="2" charset="77"/>
                <a:ea typeface="+mn-ea"/>
                <a:cs typeface="+mn-cs"/>
                <a:sym typeface="Helvetica Neue"/>
              </a:rPr>
              <a:t>Copyright © Miuul, Inc. All Rights Reserved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D83E3-93BE-A248-92F5-A6089CE21B46}"/>
              </a:ext>
            </a:extLst>
          </p:cNvPr>
          <p:cNvSpPr txBox="1"/>
          <p:nvPr userDrawn="1"/>
        </p:nvSpPr>
        <p:spPr>
          <a:xfrm>
            <a:off x="22922972" y="-172462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TR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itle 10">
            <a:extLst>
              <a:ext uri="{FF2B5EF4-FFF2-40B4-BE49-F238E27FC236}">
                <a16:creationId xmlns:a16="http://schemas.microsoft.com/office/drawing/2014/main" id="{54354A9F-DFCA-2E49-B4AA-AD78CA9ACE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397" y="6753904"/>
            <a:ext cx="9677400" cy="14331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3200" b="0" i="0" spc="0">
                <a:solidFill>
                  <a:srgbClr val="C9FFC7"/>
                </a:solidFill>
                <a:latin typeface="Chromatica" pitchFamily="2" charset="77"/>
              </a:defRPr>
            </a:lvl1pPr>
          </a:lstStyle>
          <a:p>
            <a:r>
              <a:rPr lang="en-US" dirty="0" err="1"/>
              <a:t>Bölüm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buraya</a:t>
            </a:r>
            <a:r>
              <a:rPr lang="en-US" dirty="0"/>
              <a:t> </a:t>
            </a:r>
            <a:r>
              <a:rPr lang="en-US" dirty="0" err="1"/>
              <a:t>yazın</a:t>
            </a:r>
            <a:endParaRPr lang="en-TR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0CC902-E0D0-8F48-8054-775921E13E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58706" y="2393942"/>
            <a:ext cx="10820394" cy="10350452"/>
          </a:xfrm>
          <a:prstGeom prst="rect">
            <a:avLst/>
          </a:prstGeom>
        </p:spPr>
        <p:txBody>
          <a:bodyPr anchor="ctr"/>
          <a:lstStyle>
            <a:lvl1pPr algn="l">
              <a:defRPr sz="3200" b="0" i="0">
                <a:latin typeface="Chromatica" pitchFamily="2" charset="77"/>
              </a:defRPr>
            </a:lvl1pPr>
          </a:lstStyle>
          <a:p>
            <a:pPr lvl="0"/>
            <a:r>
              <a:rPr lang="en-US" dirty="0"/>
              <a:t>’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Öğrendik</a:t>
            </a:r>
            <a:r>
              <a:rPr lang="en-US" dirty="0"/>
              <a:t>?’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maddeler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listeleyelim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5771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5572609"/>
            <a:ext cx="21971000" cy="257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tr-TR" dirty="0"/>
              <a:t>Eğitim/Bölüm/Ders Adı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54" r:id="rId3"/>
    <p:sldLayoutId id="2147483656" r:id="rId4"/>
  </p:sldLayoutIdLst>
  <p:transition spd="med"/>
  <p:txStyles>
    <p:titleStyle>
      <a:lvl1pPr marL="0" marR="0" indent="0" algn="ctr" defTabSz="2438338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ClrTx/>
        <a:buSzTx/>
        <a:buFontTx/>
        <a:buNone/>
        <a:tabLst/>
        <a:defRPr sz="7200" b="0" i="0" u="none" strike="noStrike" cap="none" spc="-170" baseline="0">
          <a:solidFill>
            <a:srgbClr val="000000"/>
          </a:solidFill>
          <a:uFillTx/>
          <a:latin typeface="Chromatica" pitchFamily="2" charset="77"/>
          <a:ea typeface="+mn-ea"/>
          <a:cs typeface="+mn-cs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latform.openai.com/docs/guides/gp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pricing" TargetMode="External"/><Relationship Id="rId2" Type="http://schemas.openxmlformats.org/officeDocument/2006/relationships/hyperlink" Target="https://www.openai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0D0C-C88F-3F44-B92C-59D46E193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492" y="7121851"/>
            <a:ext cx="21971000" cy="2570781"/>
          </a:xfrm>
        </p:spPr>
        <p:txBody>
          <a:bodyPr/>
          <a:lstStyle/>
          <a:p>
            <a:r>
              <a:rPr lang="tr-TR" dirty="0"/>
              <a:t>OPENAI CHATGPT</a:t>
            </a:r>
            <a:br>
              <a:rPr lang="tr-TR" dirty="0"/>
            </a:br>
            <a:r>
              <a:rPr lang="tr-TR" dirty="0"/>
              <a:t>DEVELOPER</a:t>
            </a:r>
            <a:endParaRPr lang="en-TR" dirty="0"/>
          </a:p>
        </p:txBody>
      </p:sp>
      <p:pic>
        <p:nvPicPr>
          <p:cNvPr id="4" name="Resim 3" descr="metin, grafik, grafik tasarım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3924EDCE-F0E1-EDA1-1358-20C9EC1CF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313" y="2263450"/>
            <a:ext cx="65024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5994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9C86E7-0F3F-3D4E-90CB-1E0876D63E8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OPENAI CHATGPT DEVELOPER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A8CB7-84BB-3E4C-AA34-E8B9443DD9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tr-TR" dirty="0"/>
          </a:p>
          <a:p>
            <a:endParaRPr lang="tr-TR" b="1" dirty="0"/>
          </a:p>
          <a:p>
            <a:endParaRPr lang="tr-TR" b="1" dirty="0"/>
          </a:p>
          <a:p>
            <a:endParaRPr lang="tr-TR" b="1" dirty="0"/>
          </a:p>
          <a:p>
            <a:r>
              <a:rPr lang="tr-TR" b="1" dirty="0"/>
              <a:t>OPENAI NEDİR?</a:t>
            </a:r>
          </a:p>
          <a:p>
            <a:endParaRPr lang="tr-TR" dirty="0"/>
          </a:p>
          <a:p>
            <a:pPr algn="l"/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OpenAI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, yapay zeka (YZ) araştırmalarını ve uygulamalarını ilerletmek için kurulmuş bir kuruluştur. </a:t>
            </a:r>
          </a:p>
          <a:p>
            <a:pPr algn="l"/>
            <a:endParaRPr lang="tr-TR" dirty="0">
              <a:solidFill>
                <a:schemeClr val="bg2">
                  <a:lumMod val="10000"/>
                </a:schemeClr>
              </a:solidFill>
              <a:latin typeface="Söhne"/>
            </a:endParaRPr>
          </a:p>
          <a:p>
            <a:pPr algn="l"/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Temel hedefi, insanlık yararına olan ve tüm insanlara fayda sağlayan yapay zekaları güvenli bir şekilde geliştirmektir.</a:t>
            </a:r>
          </a:p>
          <a:p>
            <a:pPr algn="l"/>
            <a:endParaRPr lang="tr-TR" dirty="0">
              <a:solidFill>
                <a:schemeClr val="bg2">
                  <a:lumMod val="10000"/>
                </a:schemeClr>
              </a:solidFill>
              <a:latin typeface="Söhne"/>
            </a:endParaRPr>
          </a:p>
          <a:p>
            <a:pPr algn="l"/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OpenAI'nin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misyonu, dost canlısı yapay zekanın yaygınlaşmasını sağlamaktır.</a:t>
            </a:r>
          </a:p>
          <a:p>
            <a:br>
              <a:rPr lang="tr-TR" dirty="0"/>
            </a:br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8177360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F4BED0F6-F209-8B03-D901-1520FD18615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OPENAI CHATGPT DEVELOPER</a:t>
            </a:r>
            <a:endParaRPr lang="en-TR"/>
          </a:p>
          <a:p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84FE106-649F-515E-C0A6-11E3FE9A0FB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l"/>
            <a:endParaRPr lang="tr-TR" b="0" i="0" dirty="0">
              <a:solidFill>
                <a:schemeClr val="bg2">
                  <a:lumMod val="10000"/>
                </a:schemeClr>
              </a:solidFill>
              <a:effectLst/>
              <a:latin typeface="Söhne"/>
            </a:endParaRPr>
          </a:p>
          <a:p>
            <a:pPr algn="l"/>
            <a:r>
              <a:rPr lang="tr-TR" b="1" dirty="0">
                <a:solidFill>
                  <a:schemeClr val="bg2">
                    <a:lumMod val="10000"/>
                  </a:schemeClr>
                </a:solidFill>
                <a:latin typeface="Söhne"/>
              </a:rPr>
              <a:t>CHATGPT NEDİR?</a:t>
            </a:r>
          </a:p>
          <a:p>
            <a:pPr algn="l"/>
            <a:endParaRPr lang="tr-TR" b="1" dirty="0">
              <a:solidFill>
                <a:schemeClr val="bg2">
                  <a:lumMod val="10000"/>
                </a:schemeClr>
              </a:solidFill>
              <a:latin typeface="Söhne"/>
            </a:endParaRPr>
          </a:p>
          <a:p>
            <a:pPr algn="l"/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, 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OpenAI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tarafından geliştirilen GPT (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Generative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Pre-trained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Transformer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-</a:t>
            </a:r>
            <a:r>
              <a:rPr lang="tr-TR" b="0" i="0" dirty="0">
                <a:solidFill>
                  <a:srgbClr val="DEDBD6"/>
                </a:solidFill>
                <a:effectLst/>
                <a:latin typeface="Söhne"/>
              </a:rPr>
              <a:t> </a:t>
            </a:r>
            <a:r>
              <a:rPr lang="tr-TR" b="0" i="0" dirty="0">
                <a:solidFill>
                  <a:schemeClr val="bg2">
                    <a:lumMod val="25000"/>
                  </a:schemeClr>
                </a:solidFill>
                <a:effectLst/>
                <a:latin typeface="Söhne"/>
              </a:rPr>
              <a:t>Üretken Ön-Eğitimli Dönüştürücü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) serisinin bir uygulamasıdır. </a:t>
            </a:r>
          </a:p>
          <a:p>
            <a:pPr algn="l"/>
            <a:endParaRPr lang="tr-TR" dirty="0">
              <a:solidFill>
                <a:schemeClr val="bg2">
                  <a:lumMod val="10000"/>
                </a:schemeClr>
              </a:solidFill>
              <a:latin typeface="Söhne"/>
            </a:endParaRPr>
          </a:p>
          <a:p>
            <a:pPr algn="l"/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GPT, geniş bir veri kümesi üzerinde önceden eğitilmiş bir 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transformer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tabanlı dil modelidir. 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, bu eğitilmiş modelin kullanıcılarla doğal dilde sohbet etmek için optimize edilmiş bir versiyonudur.</a:t>
            </a:r>
          </a:p>
          <a:p>
            <a:pPr algn="l"/>
            <a:endParaRPr lang="tr-TR" dirty="0">
              <a:solidFill>
                <a:schemeClr val="bg2">
                  <a:lumMod val="10000"/>
                </a:schemeClr>
              </a:solidFill>
              <a:latin typeface="Söhne"/>
            </a:endParaRPr>
          </a:p>
          <a:p>
            <a:pPr algn="l"/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ChatGPT'nin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arkasındaki temel teknoloji, 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transformer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mimarisi ve dikkat mekanizmalarıdır. Bu, modelin büyük miktarda metni anlamasını ve geniş bir bağlamda metin oluşturmasını sağlar.</a:t>
            </a:r>
          </a:p>
          <a:p>
            <a:pPr algn="l"/>
            <a:endParaRPr lang="tr-TR" dirty="0">
              <a:solidFill>
                <a:schemeClr val="bg2">
                  <a:lumMod val="10000"/>
                </a:schemeClr>
              </a:solidFill>
              <a:latin typeface="Söhne"/>
            </a:endParaRPr>
          </a:p>
          <a:p>
            <a:pPr algn="l"/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</a:t>
            </a:r>
            <a:r>
              <a:rPr lang="tr-TR" b="0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OpenAI</a:t>
            </a:r>
            <a:r>
              <a:rPr lang="tr-TR" b="0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, bu teknolojiyi kullanarak GPT serisinin birkaç versiyonunu yayınlamıştır, bu da modelin zamanla nasıl geliştiğini gösterir.</a:t>
            </a:r>
          </a:p>
          <a:p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29032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AEFA850B-8093-67C1-3389-4DF9559257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OPENAI CHATGPT DEVELOPER</a:t>
            </a:r>
            <a:endParaRPr lang="en-TR"/>
          </a:p>
          <a:p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0099B96-4F48-DF9D-FCF9-1E17F5DB476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l"/>
            <a:r>
              <a:rPr lang="tr-TR" b="1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ChatGPT'nin</a:t>
            </a:r>
            <a:r>
              <a:rPr lang="tr-TR" b="1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bazı temel özellikleri şunlardır:</a:t>
            </a:r>
          </a:p>
          <a:p>
            <a:pPr algn="l"/>
            <a:endParaRPr lang="tr-TR" b="1" i="0" dirty="0">
              <a:solidFill>
                <a:schemeClr val="bg2">
                  <a:lumMod val="1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tr-TR" b="1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Doğal Dil İşleme: </a:t>
            </a:r>
            <a:r>
              <a:rPr lang="tr-TR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, kullanıcıların girdiği metinlere yanıt olarak doğal ve insan benzeri cevaplar oluşturabilir.</a:t>
            </a:r>
          </a:p>
          <a:p>
            <a:pPr algn="l">
              <a:buFont typeface="+mj-lt"/>
              <a:buAutoNum type="arabicPeriod"/>
            </a:pPr>
            <a:endParaRPr lang="tr-TR" i="0" dirty="0">
              <a:solidFill>
                <a:schemeClr val="bg2">
                  <a:lumMod val="1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tr-TR" b="1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Çeşitli Kullanım Alanları: 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Sohbet botlarından, metin tamamlama, soru-cevap sistemleri, öğretici rehberler ve daha birçok alana kadar geniş bir yelpazede kullanılabilir.</a:t>
            </a:r>
          </a:p>
          <a:p>
            <a:pPr algn="l">
              <a:buFont typeface="+mj-lt"/>
              <a:buAutoNum type="arabicPeriod"/>
            </a:pPr>
            <a:endParaRPr lang="tr-TR" i="0" dirty="0">
              <a:solidFill>
                <a:schemeClr val="bg2">
                  <a:lumMod val="1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tr-TR" b="1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Öğrenme Yeteneği: </a:t>
            </a:r>
            <a:r>
              <a:rPr lang="tr-TR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, yeni bilgiyi hızla öğrenebilir ve mevcut bilgiyle entegre edebilir. Ancak, genel bir model olduğu için sürekli olarak özel bir veri kümesinden öğrenmez.</a:t>
            </a:r>
          </a:p>
          <a:p>
            <a:pPr algn="l">
              <a:buFont typeface="+mj-lt"/>
              <a:buAutoNum type="arabicPeriod"/>
            </a:pPr>
            <a:endParaRPr lang="tr-TR" i="0" dirty="0">
              <a:solidFill>
                <a:schemeClr val="bg2">
                  <a:lumMod val="10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tr-TR" b="1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Büyük Model Boyutu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: </a:t>
            </a:r>
            <a:r>
              <a:rPr lang="tr-TR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, milyarlarca parametreye sahip büyük bir modeldir, bu da ona geniş bir bilgi tabanı ve dil yeteneği sağlar.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8244873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BAFF0DE0-80BE-825C-7C6E-CB5BECDCD0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OPENAI CHATGPT DEVELOPER</a:t>
            </a:r>
            <a:endParaRPr lang="en-TR"/>
          </a:p>
          <a:p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32B0B1F-517E-3425-3EA4-DAD455323CB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5" name="Resim 4" descr="metin, ekran görüntüsü, yazı tipi, daire içeren bir resim&#10;&#10;Açıklama otomatik olarak oluşturuldu">
            <a:extLst>
              <a:ext uri="{FF2B5EF4-FFF2-40B4-BE49-F238E27FC236}">
                <a16:creationId xmlns:a16="http://schemas.microsoft.com/office/drawing/2014/main" id="{5C89F747-7E34-E448-0A3D-822EA9A5A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447" y="2721935"/>
            <a:ext cx="13099311" cy="90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0619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63C3AE22-216C-5E99-FC3B-E5D22BD189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OPENAI CHATGPT DEVELOPER</a:t>
            </a:r>
            <a:endParaRPr lang="en-TR"/>
          </a:p>
          <a:p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C4D4106-B902-FF4E-BDAB-511A5B64F2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tr-TR" dirty="0" err="1"/>
              <a:t>Dokumantasyon</a:t>
            </a:r>
            <a:r>
              <a:rPr lang="tr-TR" dirty="0"/>
              <a:t> incelemek için </a:t>
            </a:r>
            <a:r>
              <a:rPr lang="tr-TR" dirty="0">
                <a:hlinkClick r:id="rId2"/>
              </a:rPr>
              <a:t>tıklayınız.</a:t>
            </a:r>
            <a:endParaRPr lang="tr-TR" dirty="0"/>
          </a:p>
        </p:txBody>
      </p:sp>
      <p:pic>
        <p:nvPicPr>
          <p:cNvPr id="5" name="Resim 4" descr="metin, ekran görüntüsü, yazı tipi içeren bir resim&#10;&#10;Açıklama otomatik olarak oluşturuldu">
            <a:extLst>
              <a:ext uri="{FF2B5EF4-FFF2-40B4-BE49-F238E27FC236}">
                <a16:creationId xmlns:a16="http://schemas.microsoft.com/office/drawing/2014/main" id="{6B10AD64-CECF-8924-A983-DFDA1F6D3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878" y="3487478"/>
            <a:ext cx="16480465" cy="86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763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2B553B1F-3A1A-C1B7-086B-6F01F823A6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OPENAI CHATGPT DEVELOPER</a:t>
            </a:r>
            <a:endParaRPr lang="en-TR"/>
          </a:p>
          <a:p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C2FD3C6-19DB-5B54-40D7-60A787D39B2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  <a:p>
            <a:r>
              <a:rPr lang="tr-TR" dirty="0"/>
              <a:t>GPT-3 </a:t>
            </a:r>
            <a:r>
              <a:rPr lang="tr-TR" dirty="0" err="1"/>
              <a:t>API'sinin</a:t>
            </a:r>
            <a:r>
              <a:rPr lang="tr-TR" dirty="0"/>
              <a:t> en yaygın kullanılan `</a:t>
            </a:r>
            <a:r>
              <a:rPr lang="tr-TR" dirty="0" err="1"/>
              <a:t>openai.Completion.create</a:t>
            </a:r>
            <a:r>
              <a:rPr lang="tr-TR" dirty="0"/>
              <a:t>` metodunu ele alarak, bu metodun yaygın parametrelerini açıklayalım:</a:t>
            </a:r>
          </a:p>
          <a:p>
            <a:endParaRPr lang="tr-TR" dirty="0"/>
          </a:p>
          <a:p>
            <a:r>
              <a:rPr lang="tr-TR" b="1" dirty="0"/>
              <a:t>1. model</a:t>
            </a:r>
            <a:r>
              <a:rPr lang="tr-TR" dirty="0"/>
              <a:t>: Kullanmak istediğiniz modelin adıdır. Örneğin: "text-davinci-002", "gpt-3.5-turbo" vb.</a:t>
            </a:r>
          </a:p>
          <a:p>
            <a:r>
              <a:rPr lang="tr-TR" b="1" dirty="0"/>
              <a:t>2. </a:t>
            </a:r>
            <a:r>
              <a:rPr lang="tr-TR" b="1" dirty="0" err="1"/>
              <a:t>prompt</a:t>
            </a:r>
            <a:r>
              <a:rPr lang="tr-TR" dirty="0"/>
              <a:t>: Modele vermek istediğiniz girdidir. Bu, modelin cevap vermesini istediğiniz metin veya sorudur.</a:t>
            </a:r>
          </a:p>
          <a:p>
            <a:r>
              <a:rPr lang="tr-TR" b="1" dirty="0"/>
              <a:t>3. </a:t>
            </a:r>
            <a:r>
              <a:rPr lang="tr-TR" b="1" dirty="0" err="1"/>
              <a:t>max_tokens</a:t>
            </a:r>
            <a:r>
              <a:rPr lang="tr-TR" dirty="0"/>
              <a:t>: Oluşturulan yanıtın maksimum </a:t>
            </a:r>
            <a:r>
              <a:rPr lang="tr-TR" dirty="0" err="1"/>
              <a:t>token</a:t>
            </a:r>
            <a:r>
              <a:rPr lang="tr-TR" dirty="0"/>
              <a:t> (kelime veya karakter parçası) sayısıdır.</a:t>
            </a:r>
          </a:p>
          <a:p>
            <a:r>
              <a:rPr lang="tr-TR" b="1" dirty="0"/>
              <a:t>4. </a:t>
            </a:r>
            <a:r>
              <a:rPr lang="tr-TR" b="1" dirty="0" err="1"/>
              <a:t>temperature</a:t>
            </a:r>
            <a:r>
              <a:rPr lang="tr-TR" dirty="0"/>
              <a:t>: Oluşturulan metnin çeşitliliğini kontrol eder. Daha yüksek değerler daha rastgele sonuçlar, daha düşük değerler ise daha belirgin ve belirleyici sonuçlar üretir.</a:t>
            </a:r>
          </a:p>
          <a:p>
            <a:r>
              <a:rPr lang="tr-TR" b="1" dirty="0"/>
              <a:t>5. n: </a:t>
            </a:r>
            <a:r>
              <a:rPr lang="tr-TR" dirty="0"/>
              <a:t>Birden fazla yanıt oluşturmak için kullanılır. Örneğin, `n=5` dersek, model 5 farklı yanıt oluşturur.</a:t>
            </a:r>
          </a:p>
          <a:p>
            <a:r>
              <a:rPr lang="tr-TR" b="1" dirty="0"/>
              <a:t>6. </a:t>
            </a:r>
            <a:r>
              <a:rPr lang="tr-TR" b="1" dirty="0" err="1"/>
              <a:t>stop_sequence</a:t>
            </a:r>
            <a:r>
              <a:rPr lang="tr-TR" b="1" dirty="0"/>
              <a:t> veya </a:t>
            </a:r>
            <a:r>
              <a:rPr lang="tr-TR" b="1" dirty="0" err="1"/>
              <a:t>stop_sequences</a:t>
            </a:r>
            <a:r>
              <a:rPr lang="tr-TR" b="1" dirty="0"/>
              <a:t>: </a:t>
            </a:r>
            <a:r>
              <a:rPr lang="tr-TR" dirty="0"/>
              <a:t>Yanıtın belirli bir metinle sonlandırılmasını istediğinizde kullanılır.</a:t>
            </a:r>
          </a:p>
          <a:p>
            <a:r>
              <a:rPr lang="tr-TR" b="1" dirty="0"/>
              <a:t>7. </a:t>
            </a:r>
            <a:r>
              <a:rPr lang="tr-TR" b="1" dirty="0" err="1"/>
              <a:t>frequency_penalty</a:t>
            </a:r>
            <a:r>
              <a:rPr lang="tr-TR" b="1" dirty="0"/>
              <a:t> ve </a:t>
            </a:r>
            <a:r>
              <a:rPr lang="tr-TR" b="1" dirty="0" err="1"/>
              <a:t>presence_penalty</a:t>
            </a:r>
            <a:r>
              <a:rPr lang="tr-TR" b="1" dirty="0"/>
              <a:t>: </a:t>
            </a:r>
            <a:r>
              <a:rPr lang="tr-TR" dirty="0"/>
              <a:t>Bu parametreler, belirli kelimelerin veya ifadelerin oluşturulan metinde ne sıklıkla yer alacağını veya almayacağını kontrol etmek için kullanılabilir.</a:t>
            </a:r>
          </a:p>
          <a:p>
            <a:r>
              <a:rPr lang="tr-TR" b="1" dirty="0"/>
              <a:t>8. </a:t>
            </a:r>
            <a:r>
              <a:rPr lang="tr-TR" b="1" dirty="0" err="1"/>
              <a:t>best_of</a:t>
            </a:r>
            <a:r>
              <a:rPr lang="tr-TR" b="1" dirty="0"/>
              <a:t>: </a:t>
            </a:r>
            <a:r>
              <a:rPr lang="tr-TR" dirty="0"/>
              <a:t>`n` adet yanıt arasından en iyisini seçmek için kullanılır.</a:t>
            </a:r>
          </a:p>
          <a:p>
            <a:endParaRPr lang="tr-TR" dirty="0"/>
          </a:p>
          <a:p>
            <a:r>
              <a:rPr lang="tr-TR" dirty="0"/>
              <a:t>Bu parametreler, modelin nasıl bir yanıt oluşturacağını kontrol etmek ve optimize etmek için kullanılır. Ancak, kullanılan modelin sürümüne ve </a:t>
            </a:r>
            <a:r>
              <a:rPr lang="tr-TR" dirty="0" err="1"/>
              <a:t>API'nin</a:t>
            </a:r>
            <a:r>
              <a:rPr lang="tr-TR" dirty="0"/>
              <a:t> belirli bir sürümüne bağlı olarak, kullanılabilir parametreler ve bu parametrelerin tam işlevselliği değişebilir. Bu nedenle, her zaman </a:t>
            </a:r>
            <a:r>
              <a:rPr lang="tr-TR" dirty="0" err="1"/>
              <a:t>OpenAI'nin</a:t>
            </a:r>
            <a:r>
              <a:rPr lang="tr-TR" dirty="0"/>
              <a:t> resmi dokümantasyonunu kontrol etmek en iyisidir.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2892121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27D63616-873C-D245-41CF-782BC0834C0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OPENAI CHATGPT DEVELOPER</a:t>
            </a:r>
            <a:endParaRPr lang="en-TR"/>
          </a:p>
          <a:p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AE5DA52-25E2-20D8-E104-A4F7A49D143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tr-TR" dirty="0"/>
          </a:p>
          <a:p>
            <a:endParaRPr lang="tr-TR" i="0" dirty="0">
              <a:solidFill>
                <a:schemeClr val="bg2">
                  <a:lumMod val="10000"/>
                </a:schemeClr>
              </a:solidFill>
              <a:effectLst/>
              <a:latin typeface="Söhne"/>
            </a:endParaRPr>
          </a:p>
          <a:p>
            <a:endParaRPr lang="tr-TR" dirty="0">
              <a:solidFill>
                <a:schemeClr val="bg2">
                  <a:lumMod val="10000"/>
                </a:schemeClr>
              </a:solidFill>
              <a:latin typeface="Söhne"/>
            </a:endParaRPr>
          </a:p>
          <a:p>
            <a:endParaRPr lang="tr-TR" i="0" dirty="0">
              <a:solidFill>
                <a:schemeClr val="bg2">
                  <a:lumMod val="10000"/>
                </a:schemeClr>
              </a:solidFill>
              <a:effectLst/>
              <a:latin typeface="Söhne"/>
            </a:endParaRPr>
          </a:p>
          <a:p>
            <a:endParaRPr lang="tr-TR" dirty="0">
              <a:solidFill>
                <a:schemeClr val="bg2">
                  <a:lumMod val="10000"/>
                </a:schemeClr>
              </a:solidFill>
              <a:latin typeface="Söhne"/>
            </a:endParaRPr>
          </a:p>
          <a:p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"</a:t>
            </a:r>
            <a:r>
              <a:rPr lang="tr-TR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Developer" terimi, </a:t>
            </a:r>
            <a:r>
              <a:rPr lang="tr-TR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OpenAI'nin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</a:t>
            </a:r>
            <a:r>
              <a:rPr lang="tr-TR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modelini kullanarak sohbet botları, otomatik müşteri hizmetleri temsilcileri, içerik üreticileri veya diğer doğal dil işleme uygulamalarını geliştiren bir yazılım geliştiriciyi tanımlar. Bu geliştiriciler, </a:t>
            </a:r>
            <a:r>
              <a:rPr lang="tr-TR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ChatGPT'nin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</a:t>
            </a:r>
            <a:r>
              <a:rPr lang="tr-TR" i="0" dirty="0" err="1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API'sini</a:t>
            </a:r>
            <a:r>
              <a:rPr lang="tr-TR" i="0" dirty="0">
                <a:solidFill>
                  <a:schemeClr val="bg2">
                    <a:lumMod val="10000"/>
                  </a:schemeClr>
                </a:solidFill>
                <a:effectLst/>
                <a:latin typeface="Söhne"/>
              </a:rPr>
              <a:t> kullanarak uygulamalarını entegre eder ve optimize ederler.</a:t>
            </a:r>
            <a:endParaRPr lang="tr-TR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3137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Yer Tutucusu 1">
            <a:extLst>
              <a:ext uri="{FF2B5EF4-FFF2-40B4-BE49-F238E27FC236}">
                <a16:creationId xmlns:a16="http://schemas.microsoft.com/office/drawing/2014/main" id="{15223CB7-5E84-1526-27C4-29CEBEA8AC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tr-TR" dirty="0"/>
              <a:t>OPENAI CHATGPT DEVELOPER</a:t>
            </a:r>
            <a:endParaRPr lang="en-TR"/>
          </a:p>
          <a:p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EC0745A-BF88-5FB0-A885-C83059D4CC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tr-TR" dirty="0" err="1">
                <a:effectLst/>
              </a:rPr>
              <a:t>ChatGPT'yi</a:t>
            </a:r>
            <a:r>
              <a:rPr lang="tr-TR" dirty="0">
                <a:effectLst/>
              </a:rPr>
              <a:t> kullanmak için </a:t>
            </a:r>
            <a:r>
              <a:rPr lang="tr-TR" dirty="0" err="1">
                <a:effectLst/>
              </a:rPr>
              <a:t>OpenAI'nin</a:t>
            </a:r>
            <a:r>
              <a:rPr lang="tr-TR" dirty="0">
                <a:effectLst/>
              </a:rPr>
              <a:t> </a:t>
            </a:r>
            <a:r>
              <a:rPr lang="tr-TR" dirty="0" err="1">
                <a:effectLst/>
              </a:rPr>
              <a:t>API'sine</a:t>
            </a:r>
            <a:r>
              <a:rPr lang="tr-TR" dirty="0">
                <a:effectLst/>
              </a:rPr>
              <a:t> erişim almanız gerekmektedir. API erişimi almak için şu adımları takip edebilirsiniz:</a:t>
            </a:r>
          </a:p>
          <a:p>
            <a:pPr>
              <a:buFont typeface="+mj-lt"/>
              <a:buAutoNum type="arabicPeriod"/>
            </a:pPr>
            <a:r>
              <a:rPr lang="tr-TR" b="1" dirty="0" err="1">
                <a:effectLst/>
              </a:rPr>
              <a:t>OpenAI</a:t>
            </a:r>
            <a:r>
              <a:rPr lang="tr-TR" b="1" dirty="0">
                <a:effectLst/>
              </a:rPr>
              <a:t> Hesabı </a:t>
            </a:r>
            <a:r>
              <a:rPr lang="tr-TR" b="1" dirty="0" err="1">
                <a:effectLst/>
              </a:rPr>
              <a:t>Oluşturma</a:t>
            </a:r>
            <a:r>
              <a:rPr lang="tr-TR" dirty="0" err="1">
                <a:effectLst/>
              </a:rPr>
              <a:t>:</a:t>
            </a:r>
            <a:r>
              <a:rPr lang="tr-TR" b="0" u="sng" dirty="0" err="1">
                <a:effectLst/>
                <a:hlinkClick r:id="rId2"/>
              </a:rPr>
              <a:t>OpenAI'nin</a:t>
            </a:r>
            <a:r>
              <a:rPr lang="tr-TR" b="0" u="sng" dirty="0">
                <a:effectLst/>
                <a:hlinkClick r:id="rId2"/>
              </a:rPr>
              <a:t> resmi web sitesine</a:t>
            </a:r>
            <a:r>
              <a:rPr lang="tr-TR" dirty="0">
                <a:effectLst/>
              </a:rPr>
              <a:t> gidin."</a:t>
            </a:r>
            <a:r>
              <a:rPr lang="tr-TR" dirty="0" err="1">
                <a:effectLst/>
              </a:rPr>
              <a:t>Sign</a:t>
            </a:r>
            <a:r>
              <a:rPr lang="tr-TR" dirty="0">
                <a:effectLst/>
              </a:rPr>
              <a:t> </a:t>
            </a:r>
            <a:r>
              <a:rPr lang="tr-TR" dirty="0" err="1">
                <a:effectLst/>
              </a:rPr>
              <a:t>Up</a:t>
            </a:r>
            <a:r>
              <a:rPr lang="tr-TR" dirty="0">
                <a:effectLst/>
              </a:rPr>
              <a:t>" veya "</a:t>
            </a:r>
            <a:r>
              <a:rPr lang="tr-TR" dirty="0" err="1">
                <a:effectLst/>
              </a:rPr>
              <a:t>Login</a:t>
            </a:r>
            <a:r>
              <a:rPr lang="tr-TR" dirty="0">
                <a:effectLst/>
              </a:rPr>
              <a:t>" seçeneklerini kullanarak bir hesap oluşturun veya mevcut hesabınıza giriş yapın.</a:t>
            </a:r>
          </a:p>
          <a:p>
            <a:pPr>
              <a:buFont typeface="+mj-lt"/>
              <a:buAutoNum type="arabicPeriod"/>
            </a:pPr>
            <a:endParaRPr lang="tr-TR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tr-TR" b="1" dirty="0" err="1">
                <a:effectLst/>
              </a:rPr>
              <a:t>API'ye</a:t>
            </a:r>
            <a:r>
              <a:rPr lang="tr-TR" b="1" dirty="0">
                <a:effectLst/>
              </a:rPr>
              <a:t> </a:t>
            </a:r>
            <a:r>
              <a:rPr lang="tr-TR" b="1" dirty="0" err="1">
                <a:effectLst/>
              </a:rPr>
              <a:t>Başvuru</a:t>
            </a:r>
            <a:r>
              <a:rPr lang="tr-TR" dirty="0" err="1">
                <a:effectLst/>
              </a:rPr>
              <a:t>:Hesabınıza</a:t>
            </a:r>
            <a:r>
              <a:rPr lang="tr-TR" dirty="0">
                <a:effectLst/>
              </a:rPr>
              <a:t> giriş yaptıktan sonra, API erişimi için başvuru yapabileceğiniz bir bağlantı bulmalısınız. Erişim, döneme ve kullanılabilirliğe bağlı olarak değişebilir; bazen bekleme listesi olabilir.</a:t>
            </a:r>
          </a:p>
          <a:p>
            <a:pPr>
              <a:buFont typeface="+mj-lt"/>
              <a:buAutoNum type="arabicPeriod"/>
            </a:pPr>
            <a:endParaRPr lang="tr-TR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tr-TR" b="1" dirty="0">
                <a:effectLst/>
              </a:rPr>
              <a:t>API Anahtarını </a:t>
            </a:r>
            <a:r>
              <a:rPr lang="tr-TR" b="1" dirty="0" err="1">
                <a:effectLst/>
              </a:rPr>
              <a:t>Alma</a:t>
            </a:r>
            <a:r>
              <a:rPr lang="tr-TR" dirty="0" err="1">
                <a:effectLst/>
              </a:rPr>
              <a:t>:API</a:t>
            </a:r>
            <a:r>
              <a:rPr lang="tr-TR" dirty="0">
                <a:effectLst/>
              </a:rPr>
              <a:t> erişiminiz onaylandığında, </a:t>
            </a:r>
            <a:r>
              <a:rPr lang="tr-TR" dirty="0" err="1">
                <a:effectLst/>
              </a:rPr>
              <a:t>OpenAI</a:t>
            </a:r>
            <a:r>
              <a:rPr lang="tr-TR" dirty="0">
                <a:effectLst/>
              </a:rPr>
              <a:t> tarafından size özel bir API anahtarı verilir. Bu anahtar, </a:t>
            </a:r>
            <a:r>
              <a:rPr lang="tr-TR" dirty="0" err="1">
                <a:effectLst/>
              </a:rPr>
              <a:t>OpenAI'nin</a:t>
            </a:r>
            <a:r>
              <a:rPr lang="tr-TR" dirty="0">
                <a:effectLst/>
              </a:rPr>
              <a:t> modellerine erişim sağlamak için </a:t>
            </a:r>
            <a:r>
              <a:rPr lang="tr-TR" dirty="0" err="1">
                <a:effectLst/>
              </a:rPr>
              <a:t>gereklidir.API</a:t>
            </a:r>
            <a:r>
              <a:rPr lang="tr-TR" dirty="0">
                <a:effectLst/>
              </a:rPr>
              <a:t> anahtarınızı güvende tutmalı ve paylaşmamalısınız. Bu anahtar, API kullanım ücretleriniz için sizin hesabınıza yansıtılacaktır.</a:t>
            </a:r>
          </a:p>
          <a:p>
            <a:pPr>
              <a:buFont typeface="+mj-lt"/>
              <a:buAutoNum type="arabicPeriod"/>
            </a:pPr>
            <a:endParaRPr lang="tr-TR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tr-TR" b="1" dirty="0">
                <a:effectLst/>
              </a:rPr>
              <a:t>API </a:t>
            </a:r>
            <a:r>
              <a:rPr lang="tr-TR" b="1" dirty="0" err="1">
                <a:effectLst/>
              </a:rPr>
              <a:t>Kullanma</a:t>
            </a:r>
            <a:r>
              <a:rPr lang="tr-TR" dirty="0" err="1">
                <a:effectLst/>
              </a:rPr>
              <a:t>:API</a:t>
            </a:r>
            <a:r>
              <a:rPr lang="tr-TR" dirty="0">
                <a:effectLst/>
              </a:rPr>
              <a:t> anahtarınızı aldıktan sonra, </a:t>
            </a:r>
            <a:r>
              <a:rPr lang="tr-TR" dirty="0" err="1">
                <a:effectLst/>
              </a:rPr>
              <a:t>OpenAI'nin</a:t>
            </a:r>
            <a:r>
              <a:rPr lang="tr-TR" dirty="0">
                <a:effectLst/>
              </a:rPr>
              <a:t> sağladığı </a:t>
            </a:r>
            <a:r>
              <a:rPr lang="tr-TR" dirty="0" err="1">
                <a:effectLst/>
              </a:rPr>
              <a:t>Python</a:t>
            </a:r>
            <a:r>
              <a:rPr lang="tr-TR" dirty="0">
                <a:effectLst/>
              </a:rPr>
              <a:t> kütüphanesini kullanarak veya doğrudan HTTP istekleri yaparak </a:t>
            </a:r>
            <a:r>
              <a:rPr lang="tr-TR" dirty="0" err="1">
                <a:effectLst/>
              </a:rPr>
              <a:t>API'ye</a:t>
            </a:r>
            <a:r>
              <a:rPr lang="tr-TR" dirty="0">
                <a:effectLst/>
              </a:rPr>
              <a:t> erişebilirsiniz.</a:t>
            </a:r>
          </a:p>
          <a:p>
            <a:pPr>
              <a:buFont typeface="+mj-lt"/>
              <a:buAutoNum type="arabicPeriod"/>
            </a:pPr>
            <a:endParaRPr lang="tr-TR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tr-TR" b="1" dirty="0">
                <a:effectLst/>
              </a:rPr>
              <a:t>Kota ve Ücretlendirmeye Dikkat </a:t>
            </a:r>
            <a:r>
              <a:rPr lang="tr-TR" b="1" dirty="0" err="1">
                <a:effectLst/>
              </a:rPr>
              <a:t>Edin</a:t>
            </a:r>
            <a:r>
              <a:rPr lang="tr-TR" dirty="0" err="1">
                <a:effectLst/>
              </a:rPr>
              <a:t>:OpenAI'nin</a:t>
            </a:r>
            <a:r>
              <a:rPr lang="tr-TR" dirty="0">
                <a:effectLst/>
              </a:rPr>
              <a:t> </a:t>
            </a:r>
            <a:r>
              <a:rPr lang="tr-TR" dirty="0" err="1">
                <a:effectLst/>
              </a:rPr>
              <a:t>API'sini</a:t>
            </a:r>
            <a:r>
              <a:rPr lang="tr-TR" dirty="0">
                <a:effectLst/>
              </a:rPr>
              <a:t> kullanmanın bir maliyeti vardır. API kullanım ücretleri, kullanılan modelin boyutuna, istekte bulunan </a:t>
            </a:r>
            <a:r>
              <a:rPr lang="tr-TR" dirty="0" err="1">
                <a:effectLst/>
              </a:rPr>
              <a:t>token</a:t>
            </a:r>
            <a:r>
              <a:rPr lang="tr-TR" dirty="0">
                <a:effectLst/>
              </a:rPr>
              <a:t> sayısına ve diğer faktörlere bağlı olarak </a:t>
            </a:r>
            <a:r>
              <a:rPr lang="tr-TR" dirty="0" err="1">
                <a:effectLst/>
              </a:rPr>
              <a:t>değişebilir.OpenAI'nin</a:t>
            </a:r>
            <a:r>
              <a:rPr lang="tr-TR" dirty="0">
                <a:effectLst/>
              </a:rPr>
              <a:t> </a:t>
            </a:r>
            <a:r>
              <a:rPr lang="tr-TR" b="0" u="sng" dirty="0">
                <a:effectLst/>
                <a:hlinkClick r:id="rId3"/>
              </a:rPr>
              <a:t>fiyatlandırma sayfasını</a:t>
            </a:r>
            <a:r>
              <a:rPr lang="tr-TR" dirty="0">
                <a:effectLst/>
              </a:rPr>
              <a:t> ziyaret ederek güncel fiyatlandırma bilgilerini kontrol edebilirsiniz.</a:t>
            </a:r>
          </a:p>
          <a:p>
            <a:r>
              <a:rPr lang="tr-TR" dirty="0">
                <a:effectLst/>
              </a:rPr>
              <a:t>Bu adımları takip ederek </a:t>
            </a:r>
            <a:r>
              <a:rPr lang="tr-TR" dirty="0" err="1">
                <a:effectLst/>
              </a:rPr>
              <a:t>OpenAI'nin</a:t>
            </a:r>
            <a:r>
              <a:rPr lang="tr-TR" dirty="0">
                <a:effectLst/>
              </a:rPr>
              <a:t> </a:t>
            </a:r>
            <a:r>
              <a:rPr lang="tr-TR" dirty="0" err="1">
                <a:effectLst/>
              </a:rPr>
              <a:t>ChatGPT</a:t>
            </a:r>
            <a:r>
              <a:rPr lang="tr-TR" dirty="0">
                <a:effectLst/>
              </a:rPr>
              <a:t> </a:t>
            </a:r>
            <a:r>
              <a:rPr lang="tr-TR" dirty="0" err="1">
                <a:effectLst/>
              </a:rPr>
              <a:t>API'sine</a:t>
            </a:r>
            <a:r>
              <a:rPr lang="tr-TR" dirty="0">
                <a:effectLst/>
              </a:rPr>
              <a:t> erişim alabilirsiniz. Erişim aldıktan sonra, API dokümantasyonunda belirtilen yönergeleri takip ederek uygulamanızda bu </a:t>
            </a:r>
            <a:r>
              <a:rPr lang="tr-TR" dirty="0" err="1">
                <a:effectLst/>
              </a:rPr>
              <a:t>API'yi</a:t>
            </a:r>
            <a:r>
              <a:rPr lang="tr-TR" dirty="0">
                <a:effectLst/>
              </a:rPr>
              <a:t> kullanabilirsiniz.</a:t>
            </a:r>
          </a:p>
          <a:p>
            <a:pPr algn="l"/>
            <a:br>
              <a:rPr lang="tr-TR" sz="2400" b="0" i="0" dirty="0">
                <a:solidFill>
                  <a:srgbClr val="E8E6E3"/>
                </a:solidFill>
                <a:effectLst/>
                <a:latin typeface="Söhne"/>
              </a:rPr>
            </a:br>
            <a:endParaRPr lang="tr-TR" sz="2400" b="0" i="0" dirty="0">
              <a:solidFill>
                <a:srgbClr val="E8E6E3"/>
              </a:solidFill>
              <a:effectLst/>
              <a:latin typeface="Söhne"/>
            </a:endParaRPr>
          </a:p>
          <a:p>
            <a:endParaRPr lang="tr-TR" sz="24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05ADA22-53CF-2A2D-978D-7ADDBCF94A94}"/>
              </a:ext>
            </a:extLst>
          </p:cNvPr>
          <p:cNvSpPr txBox="1"/>
          <p:nvPr/>
        </p:nvSpPr>
        <p:spPr>
          <a:xfrm>
            <a:off x="8561044" y="763498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1647434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5">
            <a:extLst>
              <a:ext uri="{FF2B5EF4-FFF2-40B4-BE49-F238E27FC236}">
                <a16:creationId xmlns:a16="http://schemas.microsoft.com/office/drawing/2014/main" id="{008B84D5-EC27-C64A-96F3-D12B2C7E4E66}"/>
              </a:ext>
            </a:extLst>
          </p:cNvPr>
          <p:cNvCxnSpPr>
            <a:cxnSpLocks/>
          </p:cNvCxnSpPr>
          <p:nvPr/>
        </p:nvCxnSpPr>
        <p:spPr>
          <a:xfrm>
            <a:off x="11866880" y="3336178"/>
            <a:ext cx="0" cy="7413102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8B182E7-AB2F-4F42-9BB4-FD80883F7180}"/>
              </a:ext>
            </a:extLst>
          </p:cNvPr>
          <p:cNvSpPr txBox="1">
            <a:spLocks/>
          </p:cNvSpPr>
          <p:nvPr/>
        </p:nvSpPr>
        <p:spPr>
          <a:xfrm>
            <a:off x="12809088" y="6554124"/>
            <a:ext cx="5016897" cy="977209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dirty="0" err="1">
                <a:latin typeface="Chromatica" pitchFamily="2" charset="77"/>
              </a:rPr>
              <a:t>miuul.com</a:t>
            </a:r>
            <a:endParaRPr lang="en-IN" dirty="0">
              <a:solidFill>
                <a:schemeClr val="bg2">
                  <a:lumMod val="10000"/>
                </a:schemeClr>
              </a:solidFill>
              <a:latin typeface="Chromatica" pitchFamily="2" charset="77"/>
              <a:cs typeface="Poppins" panose="00000500000000000000" pitchFamily="2" charset="-94"/>
            </a:endParaRPr>
          </a:p>
        </p:txBody>
      </p:sp>
      <p:pic>
        <p:nvPicPr>
          <p:cNvPr id="8" name="Picture 7" descr="Logo&#10;&#10;Description automatically generated with low confidence">
            <a:extLst>
              <a:ext uri="{FF2B5EF4-FFF2-40B4-BE49-F238E27FC236}">
                <a16:creationId xmlns:a16="http://schemas.microsoft.com/office/drawing/2014/main" id="{150CCF21-3BF5-6231-AFB4-893B8F845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372" y="6040797"/>
            <a:ext cx="4588930" cy="136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2509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Eğitim Adı">
  <a:themeElements>
    <a:clrScheme name="Miuul Renk Paleti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888531EB-B80A-DC4E-87AD-AD8478769648}" vid="{6D0E7461-0100-8046-8FFF-5C1D91E67DD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Adı</Template>
  <TotalTime>4587</TotalTime>
  <Words>794</Words>
  <Application>Microsoft Macintosh PowerPoint</Application>
  <PresentationFormat>Özel</PresentationFormat>
  <Paragraphs>75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6" baseType="lpstr">
      <vt:lpstr>Chromatica</vt:lpstr>
      <vt:lpstr>Chromatica Medium</vt:lpstr>
      <vt:lpstr>Helvetica Neue</vt:lpstr>
      <vt:lpstr>Helvetica Neue Medium</vt:lpstr>
      <vt:lpstr>Söhne</vt:lpstr>
      <vt:lpstr>Eğitim Adı</vt:lpstr>
      <vt:lpstr>OPENAI CHATGPT DEVELOPER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Bilimciler için Python Programlama</dc:title>
  <dc:creator>oytun@miuul.com</dc:creator>
  <cp:lastModifiedBy>Fatma A. 211201016</cp:lastModifiedBy>
  <cp:revision>10</cp:revision>
  <dcterms:created xsi:type="dcterms:W3CDTF">2021-05-22T14:24:12Z</dcterms:created>
  <dcterms:modified xsi:type="dcterms:W3CDTF">2023-11-16T17:39:20Z</dcterms:modified>
</cp:coreProperties>
</file>